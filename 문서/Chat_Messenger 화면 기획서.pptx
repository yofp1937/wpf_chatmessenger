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trictFirstAndLastChars="0" saveSubsetFonts="1" autoCompressPictures="0">
  <p:sldMasterIdLst>
    <p:sldMasterId id="2147483671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def="{5C22544A-7EE6-4342-B048-85BDC9FD1C3A}">
  <a:tblStyle styleId="{C35AED71-FBF5-48EC-AFBA-17D411AA58C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60" d="100"/>
          <a:sy n="160" d="100"/>
        </p:scale>
        <p:origin x="730" y="106"/>
      </p:cViewPr>
      <p:guideLst>
        <p:guide orient="horz" pos="1616"/>
        <p:guide pos="287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viewProps" Target="viewProps.xml"  /><Relationship Id="rId11" Type="http://schemas.openxmlformats.org/officeDocument/2006/relationships/theme" Target="theme/theme1.xml"  /><Relationship Id="rId12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presProps" Target="presProps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/>
              <a:t/>
            </a:r>
            <a:endParaRPr lang="en-US" altLang="ko-KR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be51da4615_0_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be51da4615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/>
              <a:t/>
            </a:r>
            <a:endParaRPr lang="en-US" altLang="ko-KR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be51da4615_0_6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be51da4615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/>
              <a:t/>
            </a:r>
            <a:endParaRPr lang="en-US" altLang="ko-KR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be51da4615_0_1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be51da4615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/>
              <a:t/>
            </a:r>
            <a:endParaRPr lang="en-US" altLang="ko-KR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be51da4615_0_12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be51da4615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be51da4615_0_12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be51da4615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/>
              <a:t/>
            </a:r>
            <a:endParaRPr lang="en-US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3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3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3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3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3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 idx="0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wrap="square" lIns="91424" tIns="91424" rIns="91424" bIns="91424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/>
              <a:t>Chat_Messenger</a:t>
            </a:r>
            <a:endParaRPr lang="en-US" altLang="ko-KR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wrap="square" lIns="91424" tIns="91424" rIns="91424" bIns="91424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/>
              <a:t>WPF</a:t>
            </a:r>
            <a:r>
              <a:rPr lang="ko"/>
              <a:t> Client 화면 기획</a:t>
            </a:r>
            <a:endParaRPr lang="ko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 idx="0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4" tIns="91424" rIns="91424" bIns="91424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/>
              <a:t>목차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wrap="square" lIns="91424" tIns="91424" rIns="91424" bIns="91424" anchor="t" anchorCtr="0">
            <a:normAutofit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ct val="25000"/>
              <a:buAutoNum type="arabicPeriod"/>
              <a:defRPr/>
            </a:pPr>
            <a:r>
              <a:rPr lang="ko"/>
              <a:t>수정 이력</a:t>
            </a:r>
            <a:endParaRPr lang="ko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ct val="25000"/>
              <a:buAutoNum type="arabicPeriod"/>
              <a:defRPr/>
            </a:pPr>
            <a:r>
              <a:rPr lang="en-US" altLang="ko-KR"/>
              <a:t>MainWindowView</a:t>
            </a:r>
            <a:endParaRPr lang="en-US" altLang="ko-KR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ct val="25000"/>
              <a:buAutoNum type="alphaLcPeriod"/>
              <a:defRPr/>
            </a:pPr>
            <a:r>
              <a:rPr lang="en-US" altLang="ko-KR"/>
              <a:t>MainShellView</a:t>
            </a:r>
            <a:endParaRPr lang="en-US" altLang="ko-KR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ct val="25000"/>
              <a:buAutoNum type="alphaLcPeriod"/>
              <a:defRPr/>
            </a:pPr>
            <a:r>
              <a:rPr lang="en-US" altLang="ko-KR"/>
              <a:t>PageView</a:t>
            </a:r>
            <a:endParaRPr lang="en-US" altLang="ko-KR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ct val="25000"/>
              <a:buAutoNum type="alphaLcPeriod"/>
              <a:defRPr/>
            </a:pPr>
            <a:r>
              <a:rPr lang="en-US" altLang="ko-KR"/>
              <a:t>TabView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" name="Google Shape;66;p15"/>
          <p:cNvGraphicFramePr/>
          <p:nvPr/>
        </p:nvGraphicFramePr>
        <p:xfrm>
          <a:off x="252000" y="417475"/>
          <a:ext cx="8631425" cy="4549675"/>
        </p:xfrm>
        <a:graphic>
          <a:graphicData uri="http://schemas.openxmlformats.org/drawingml/2006/table">
            <a:tbl>
              <a:tblPr>
                <a:noFill/>
                <a:tableStyleId>{C35AED71-FBF5-48EC-AFBA-17D411AA58C9}</a:tableStyleId>
              </a:tblPr>
              <a:tblGrid>
                <a:gridCol w="1097250"/>
                <a:gridCol w="3214175"/>
                <a:gridCol w="1530325"/>
                <a:gridCol w="2789675"/>
              </a:tblGrid>
              <a:tr h="391475"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수정 일자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수정 내용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작성자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비고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</a:tr>
              <a:tr h="519775"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/>
                        <a:t>2026-04-11</a:t>
                      </a:r>
                      <a:endParaRPr lang="en-US" altLang="ko-KR"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/>
                        <a:t>초안 작성</a:t>
                      </a:r>
                      <a:endParaRPr lang="ko-KR" altLang="en-US"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/>
                        <a:t>김상훈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</a:tr>
              <a:tr h="519775"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lang="en-US" altLang="ko-KR"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lang="ko-KR" altLang="en-US"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lang="ko-KR" altLang="en-US"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lang="ko-KR" altLang="en-US"/>
                    </a:p>
                  </a:txBody>
                  <a:tcPr marL="91425" marR="91425" marT="91425" marB="91425"/>
                </a:tc>
              </a:tr>
              <a:tr h="519775"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lang="en-US" altLang="ko-KR"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lang="ko-KR" altLang="en-US"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lang="ko-KR" altLang="en-US"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lang="en-US" altLang="ko-KR"/>
                    </a:p>
                  </a:txBody>
                  <a:tcPr marL="91425" marR="91425" marT="91425" marB="91425"/>
                </a:tc>
              </a:tr>
              <a:tr h="519775"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</a:tr>
              <a:tr h="519775"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</a:tr>
              <a:tr h="519775"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</a:tr>
              <a:tr h="519775"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</a:tr>
              <a:tr h="519775"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title" idx="0"/>
          </p:nvPr>
        </p:nvSpPr>
        <p:spPr>
          <a:xfrm>
            <a:off x="311700" y="441600"/>
            <a:ext cx="8520600" cy="4260300"/>
          </a:xfrm>
          <a:prstGeom prst="rect">
            <a:avLst/>
          </a:prstGeom>
        </p:spPr>
        <p:txBody>
          <a:bodyPr wrap="square" lIns="91424" tIns="91424" rIns="91424" bIns="91424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/>
              <a:t>MainWindowView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" name="Google Shape;76;p17"/>
          <p:cNvGraphicFramePr/>
          <p:nvPr/>
        </p:nvGraphicFramePr>
        <p:xfrm>
          <a:off x="252000" y="231750"/>
          <a:ext cx="8640000" cy="4689625"/>
        </p:xfrm>
        <a:graphic>
          <a:graphicData uri="http://schemas.openxmlformats.org/drawingml/2006/table">
            <a:tbl>
              <a:tblPr>
                <a:noFill/>
                <a:tableStyleId>{C35AED71-FBF5-48EC-AFBA-17D411AA58C9}</a:tableStyleId>
              </a:tblPr>
              <a:tblGrid>
                <a:gridCol w="1728000"/>
                <a:gridCol w="1728000"/>
                <a:gridCol w="1728000"/>
                <a:gridCol w="1728000"/>
                <a:gridCol w="1728000"/>
              </a:tblGrid>
              <a:tr h="385425"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UI 제목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UI ID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작성자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작성 날짜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비고</a:t>
                      </a:r>
                      <a:endParaRPr/>
                    </a:p>
                  </a:txBody>
                  <a:tcPr marL="91425" marR="91425" marT="91425" marB="91425"/>
                </a:tc>
              </a:tr>
              <a:tr h="385425"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MainWindowView</a:t>
                      </a:r>
                      <a:endParaRPr lang="en-US" altLang="ko-KR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S-01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/>
                        <a:t>김상훈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202</a:t>
                      </a:r>
                      <a:r>
                        <a:rPr lang="en-US" altLang="ko-KR"/>
                        <a:t>6</a:t>
                      </a:r>
                      <a:r>
                        <a:rPr lang="ko"/>
                        <a:t>-0</a:t>
                      </a:r>
                      <a:r>
                        <a:rPr lang="en-US" altLang="ko"/>
                        <a:t>4</a:t>
                      </a:r>
                      <a:r>
                        <a:rPr lang="ko"/>
                        <a:t>-</a:t>
                      </a:r>
                      <a:r>
                        <a:rPr lang="en-US" altLang="ko-KR"/>
                        <a:t>11</a:t>
                      </a:r>
                      <a:endParaRPr lang="en-US" altLang="ko-KR"/>
                    </a:p>
                  </a:txBody>
                  <a:tcPr marL="91425" marR="91425" marT="91425" marB="91425"/>
                </a:tc>
                <a:tc rowSpan="4">
                  <a:txBody>
                    <a:bodyPr vert="horz" lIns="91424" tIns="91424" rIns="91424" bIns="91424" anchor="t" anchorCtr="0"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900">
                          <a:solidFill>
                            <a:srgbClr val="b21010"/>
                          </a:solidFill>
                        </a:rPr>
                        <a:t>*PageView</a:t>
                      </a:r>
                      <a:endParaRPr lang="en-US" altLang="ko-KR" sz="900">
                        <a:solidFill>
                          <a:srgbClr val="b21010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700">
                          <a:solidFill>
                            <a:srgbClr val="b21010"/>
                          </a:solidFill>
                        </a:rPr>
                        <a:t>(</a:t>
                      </a:r>
                      <a:r>
                        <a:rPr lang="ko-KR" altLang="en-US" sz="700">
                          <a:solidFill>
                            <a:srgbClr val="b21010"/>
                          </a:solidFill>
                        </a:rPr>
                        <a:t>하나의 화면 전체를 담당하는</a:t>
                      </a:r>
                      <a:r>
                        <a:rPr lang="en-US" altLang="ko-KR" sz="700">
                          <a:solidFill>
                            <a:srgbClr val="b21010"/>
                          </a:solidFill>
                        </a:rPr>
                        <a:t> View)</a:t>
                      </a:r>
                      <a:br>
                        <a:rPr lang="en-US" altLang="ko-KR" sz="900">
                          <a:solidFill>
                            <a:srgbClr val="b21010"/>
                          </a:solidFill>
                        </a:rPr>
                      </a:br>
                      <a:r>
                        <a:rPr lang="en-US" altLang="ko-KR" sz="900">
                          <a:solidFill>
                            <a:srgbClr val="000000"/>
                          </a:solidFill>
                        </a:rPr>
                        <a:t>MainWindowViewModel</a:t>
                      </a:r>
                      <a:r>
                        <a:rPr lang="ko-KR" altLang="en-US" sz="900">
                          <a:solidFill>
                            <a:srgbClr val="000000"/>
                          </a:solidFill>
                        </a:rPr>
                        <a:t>의</a:t>
                      </a:r>
                      <a:br>
                        <a:rPr lang="ko-KR" altLang="en-US" sz="900">
                          <a:solidFill>
                            <a:srgbClr val="000000"/>
                          </a:solidFill>
                        </a:rPr>
                      </a:br>
                      <a:r>
                        <a:rPr lang="en-US" altLang="ko-KR" sz="900">
                          <a:solidFill>
                            <a:srgbClr val="000000"/>
                          </a:solidFill>
                        </a:rPr>
                        <a:t>CurrentViewModel</a:t>
                      </a:r>
                      <a:r>
                        <a:rPr lang="ko-KR" altLang="en-US" sz="900">
                          <a:solidFill>
                            <a:srgbClr val="000000"/>
                          </a:solidFill>
                        </a:rPr>
                        <a:t> 값에 따라</a:t>
                      </a:r>
                      <a:br>
                        <a:rPr lang="ko-KR" altLang="en-US" sz="900">
                          <a:solidFill>
                            <a:srgbClr val="000000"/>
                          </a:solidFill>
                        </a:rPr>
                      </a:br>
                      <a:r>
                        <a:rPr lang="en-US" altLang="ko-KR" sz="900">
                          <a:solidFill>
                            <a:srgbClr val="000000"/>
                          </a:solidFill>
                        </a:rPr>
                        <a:t>LoginView </a:t>
                      </a:r>
                      <a:r>
                        <a:rPr lang="ko-KR" altLang="en-US" sz="900">
                          <a:solidFill>
                            <a:srgbClr val="000000"/>
                          </a:solidFill>
                        </a:rPr>
                        <a:t>혹은</a:t>
                      </a:r>
                      <a:br>
                        <a:rPr lang="ko-KR" altLang="en-US" sz="900">
                          <a:solidFill>
                            <a:srgbClr val="000000"/>
                          </a:solidFill>
                        </a:rPr>
                      </a:br>
                      <a:r>
                        <a:rPr lang="en-US" altLang="ko-KR" sz="900">
                          <a:solidFill>
                            <a:srgbClr val="000000"/>
                          </a:solidFill>
                        </a:rPr>
                        <a:t>RegisterView</a:t>
                      </a:r>
                      <a:r>
                        <a:rPr lang="ko-KR" altLang="en-US" sz="900">
                          <a:solidFill>
                            <a:srgbClr val="000000"/>
                          </a:solidFill>
                        </a:rPr>
                        <a:t> 혹은</a:t>
                      </a:r>
                      <a:br>
                        <a:rPr lang="ko-KR" altLang="en-US" sz="900">
                          <a:solidFill>
                            <a:srgbClr val="000000"/>
                          </a:solidFill>
                        </a:rPr>
                      </a:br>
                      <a:r>
                        <a:rPr lang="en-US" altLang="ko-KR" sz="900">
                          <a:solidFill>
                            <a:srgbClr val="000000"/>
                          </a:solidFill>
                        </a:rPr>
                        <a:t>MainShellView</a:t>
                      </a:r>
                      <a:r>
                        <a:rPr lang="ko-KR" altLang="en-US" sz="900">
                          <a:solidFill>
                            <a:srgbClr val="000000"/>
                          </a:solidFill>
                        </a:rPr>
                        <a:t>가 표시 됨</a:t>
                      </a:r>
                      <a:endParaRPr lang="ko-KR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/>
                </a:tc>
              </a:tr>
              <a:tr h="385425">
                <a:tc gridSpan="4"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UI 상세</a:t>
                      </a:r>
                      <a:endParaRPr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v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</a:tr>
              <a:tr h="1759700">
                <a:tc rowSpan="2" gridSpan="4"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  <a:tc rowSpan="2"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rowSpan="2"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rowSpan="2"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v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</a:tr>
              <a:tr h="1759700">
                <a:tc gridSpan="4" v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 v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 v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 v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v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</a:tr>
            </a:tbl>
          </a:graphicData>
        </a:graphic>
      </p:graphicFrame>
      <p:sp>
        <p:nvSpPr>
          <p:cNvPr id="77" name="Google Shape;77;p17"/>
          <p:cNvSpPr/>
          <p:nvPr/>
        </p:nvSpPr>
        <p:spPr>
          <a:xfrm>
            <a:off x="750675" y="1543075"/>
            <a:ext cx="5760000" cy="32400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>
                <a:solidFill>
                  <a:srgbClr val="b21010"/>
                </a:solidFill>
              </a:rPr>
              <a:t>*PageView</a:t>
            </a:r>
            <a:endParaRPr lang="en-US" altLang="ko-KR">
              <a:solidFill>
                <a:srgbClr val="b21010"/>
              </a:solidFill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747327" y="1543152"/>
            <a:ext cx="5760005" cy="643302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1500"/>
              <a:t>WindowCaptionView.xaml</a:t>
            </a:r>
            <a:endParaRPr lang="en-US" altLang="ko-KR" sz="15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" name="Google Shape;76;p17"/>
          <p:cNvGraphicFramePr/>
          <p:nvPr/>
        </p:nvGraphicFramePr>
        <p:xfrm>
          <a:off x="252000" y="231750"/>
          <a:ext cx="8637900" cy="4689625"/>
        </p:xfrm>
        <a:graphic>
          <a:graphicData uri="http://schemas.openxmlformats.org/drawingml/2006/table">
            <a:tbl>
              <a:tblPr>
                <a:noFill/>
                <a:tableStyleId>{C35AED71-FBF5-48EC-AFBA-17D411AA58C9}</a:tableStyleId>
              </a:tblPr>
              <a:tblGrid>
                <a:gridCol w="1728000"/>
                <a:gridCol w="1728000"/>
                <a:gridCol w="1728000"/>
                <a:gridCol w="1728000"/>
                <a:gridCol w="1725900"/>
              </a:tblGrid>
              <a:tr h="385425"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UI 제목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UI ID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작성자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작성 날짜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비고</a:t>
                      </a:r>
                      <a:endParaRPr/>
                    </a:p>
                  </a:txBody>
                  <a:tcPr marL="91425" marR="91425" marT="91425" marB="91425"/>
                </a:tc>
              </a:tr>
              <a:tr h="385425"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MainShellView</a:t>
                      </a:r>
                      <a:endParaRPr lang="en-US" altLang="ko-KR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S-01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-KR" altLang="en-US"/>
                        <a:t>김상훈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202</a:t>
                      </a:r>
                      <a:r>
                        <a:rPr lang="en-US" altLang="ko-KR"/>
                        <a:t>6</a:t>
                      </a:r>
                      <a:r>
                        <a:rPr lang="ko"/>
                        <a:t>-0</a:t>
                      </a:r>
                      <a:r>
                        <a:rPr lang="en-US" altLang="ko"/>
                        <a:t>4</a:t>
                      </a:r>
                      <a:r>
                        <a:rPr lang="ko"/>
                        <a:t>-</a:t>
                      </a:r>
                      <a:r>
                        <a:rPr lang="en-US" altLang="ko-KR"/>
                        <a:t>11</a:t>
                      </a:r>
                      <a:endParaRPr lang="en-US" altLang="ko-KR"/>
                    </a:p>
                  </a:txBody>
                  <a:tcPr marL="91425" marR="91425" marT="91425" marB="91425"/>
                </a:tc>
                <a:tc rowSpan="4">
                  <a:txBody>
                    <a:bodyPr vert="horz" lIns="91424" tIns="91424" rIns="91424" bIns="91424" anchor="t" anchorCtr="0"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900">
                          <a:solidFill>
                            <a:srgbClr val="b21010"/>
                          </a:solidFill>
                        </a:rPr>
                        <a:t>*TabView</a:t>
                      </a:r>
                      <a:endParaRPr lang="en-US" altLang="ko-KR" sz="900">
                        <a:solidFill>
                          <a:srgbClr val="b21010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700">
                          <a:solidFill>
                            <a:srgbClr val="b21010"/>
                          </a:solidFill>
                        </a:rPr>
                        <a:t>(PageView</a:t>
                      </a:r>
                      <a:r>
                        <a:rPr lang="ko-KR" altLang="en-US" sz="700">
                          <a:solidFill>
                            <a:srgbClr val="b21010"/>
                          </a:solidFill>
                        </a:rPr>
                        <a:t> 내에서 </a:t>
                      </a:r>
                      <a:r>
                        <a:rPr lang="en-US" altLang="ko-KR" sz="700">
                          <a:solidFill>
                            <a:srgbClr val="b21010"/>
                          </a:solidFill>
                        </a:rPr>
                        <a:t>PageViewModel</a:t>
                      </a:r>
                      <a:r>
                        <a:rPr lang="ko-KR" altLang="en-US" sz="700">
                          <a:solidFill>
                            <a:srgbClr val="b21010"/>
                          </a:solidFill>
                        </a:rPr>
                        <a:t>의</a:t>
                      </a:r>
                      <a:br>
                        <a:rPr lang="ko-KR" altLang="en-US" sz="700">
                          <a:solidFill>
                            <a:srgbClr val="b21010"/>
                          </a:solidFill>
                        </a:rPr>
                      </a:br>
                      <a:r>
                        <a:rPr lang="en-US" altLang="ko-KR" sz="700">
                          <a:solidFill>
                            <a:srgbClr val="b21010"/>
                          </a:solidFill>
                        </a:rPr>
                        <a:t>CurrentViewModel</a:t>
                      </a:r>
                      <a:r>
                        <a:rPr lang="ko-KR" altLang="en-US" sz="700">
                          <a:solidFill>
                            <a:srgbClr val="b21010"/>
                          </a:solidFill>
                        </a:rPr>
                        <a:t> 값에따라</a:t>
                      </a:r>
                      <a:br>
                        <a:rPr lang="ko-KR" altLang="en-US" sz="700">
                          <a:solidFill>
                            <a:srgbClr val="b21010"/>
                          </a:solidFill>
                        </a:rPr>
                      </a:br>
                      <a:r>
                        <a:rPr lang="ko-KR" altLang="en-US" sz="700">
                          <a:solidFill>
                            <a:srgbClr val="b21010"/>
                          </a:solidFill>
                        </a:rPr>
                        <a:t>전환되는 화면을 표시해주는</a:t>
                      </a:r>
                      <a:r>
                        <a:rPr lang="en-US" altLang="ko-KR" sz="700">
                          <a:solidFill>
                            <a:srgbClr val="b21010"/>
                          </a:solidFill>
                        </a:rPr>
                        <a:t> View)</a:t>
                      </a:r>
                      <a:endParaRPr lang="en-US" altLang="ko-KR" sz="700">
                        <a:solidFill>
                          <a:srgbClr val="b21010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lang="en-US" altLang="ko-KR" sz="700">
                        <a:solidFill>
                          <a:srgbClr val="b21010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lang="en-US" altLang="ko-KR" sz="700">
                        <a:solidFill>
                          <a:srgbClr val="b21010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lang="en-US" altLang="ko-KR" sz="700">
                        <a:solidFill>
                          <a:srgbClr val="b21010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altLang="ko-KR" sz="900">
                          <a:solidFill>
                            <a:srgbClr val="b21010"/>
                          </a:solidFill>
                        </a:rPr>
                        <a:t>*LeftTabView</a:t>
                      </a:r>
                      <a:br>
                        <a:rPr lang="en-US" altLang="ko-KR" sz="900">
                          <a:solidFill>
                            <a:srgbClr val="b21010"/>
                          </a:solidFill>
                        </a:rPr>
                      </a:br>
                      <a:r>
                        <a:rPr lang="en-US" altLang="ko-KR" sz="900">
                          <a:solidFill>
                            <a:srgbClr val="000000"/>
                          </a:solidFill>
                        </a:rPr>
                        <a:t>PageViewModel</a:t>
                      </a:r>
                      <a:r>
                        <a:rPr lang="ko-KR" altLang="en-US" sz="900">
                          <a:solidFill>
                            <a:srgbClr val="000000"/>
                          </a:solidFill>
                        </a:rPr>
                        <a:t>의</a:t>
                      </a:r>
                      <a:br>
                        <a:rPr lang="ko-KR" altLang="en-US" sz="900">
                          <a:solidFill>
                            <a:srgbClr val="000000"/>
                          </a:solidFill>
                        </a:rPr>
                      </a:br>
                      <a:r>
                        <a:rPr lang="en-US" altLang="ko-KR" sz="900">
                          <a:solidFill>
                            <a:srgbClr val="000000"/>
                          </a:solidFill>
                        </a:rPr>
                        <a:t>CurrentViewModel</a:t>
                      </a:r>
                      <a:r>
                        <a:rPr lang="ko-KR" altLang="en-US" sz="900">
                          <a:solidFill>
                            <a:srgbClr val="000000"/>
                          </a:solidFill>
                        </a:rPr>
                        <a:t> 값에 따라</a:t>
                      </a:r>
                      <a:br>
                        <a:rPr lang="ko-KR" altLang="en-US" sz="900">
                          <a:solidFill>
                            <a:srgbClr val="000000"/>
                          </a:solidFill>
                        </a:rPr>
                      </a:br>
                      <a:r>
                        <a:rPr lang="en-US" altLang="ko-KR" sz="900">
                          <a:solidFill>
                            <a:srgbClr val="000000"/>
                          </a:solidFill>
                        </a:rPr>
                        <a:t>FriendListView </a:t>
                      </a:r>
                      <a:r>
                        <a:rPr lang="ko-KR" altLang="en-US" sz="900">
                          <a:solidFill>
                            <a:srgbClr val="000000"/>
                          </a:solidFill>
                        </a:rPr>
                        <a:t>혹은</a:t>
                      </a:r>
                      <a:br>
                        <a:rPr lang="ko-KR" altLang="en-US" sz="900">
                          <a:solidFill>
                            <a:srgbClr val="000000"/>
                          </a:solidFill>
                        </a:rPr>
                      </a:br>
                      <a:r>
                        <a:rPr lang="en-US" altLang="ko-KR" sz="900">
                          <a:solidFill>
                            <a:srgbClr val="000000"/>
                          </a:solidFill>
                        </a:rPr>
                        <a:t>ChatListView</a:t>
                      </a:r>
                      <a:r>
                        <a:rPr lang="ko-KR" altLang="en-US" sz="900">
                          <a:solidFill>
                            <a:srgbClr val="000000"/>
                          </a:solidFill>
                        </a:rPr>
                        <a:t> 혹은</a:t>
                      </a:r>
                      <a:br>
                        <a:rPr lang="ko-KR" altLang="en-US" sz="900">
                          <a:solidFill>
                            <a:srgbClr val="000000"/>
                          </a:solidFill>
                        </a:rPr>
                      </a:br>
                      <a:r>
                        <a:rPr lang="en-US" altLang="ko-KR" sz="900">
                          <a:solidFill>
                            <a:srgbClr val="000000"/>
                          </a:solidFill>
                        </a:rPr>
                        <a:t>SettingListView</a:t>
                      </a:r>
                      <a:r>
                        <a:rPr lang="ko-KR" altLang="en-US" sz="900">
                          <a:solidFill>
                            <a:srgbClr val="000000"/>
                          </a:solidFill>
                        </a:rPr>
                        <a:t>가 표시 됨</a:t>
                      </a:r>
                      <a:br>
                        <a:rPr lang="en-US" altLang="ko-KR" sz="900">
                          <a:solidFill>
                            <a:srgbClr val="000000"/>
                          </a:solidFill>
                        </a:rPr>
                      </a:br>
                      <a:br>
                        <a:rPr lang="en-US" altLang="ko-KR" sz="900">
                          <a:solidFill>
                            <a:srgbClr val="000000"/>
                          </a:solidFill>
                        </a:rPr>
                      </a:br>
                      <a:r>
                        <a:rPr lang="en-US" altLang="ko-KR" sz="900">
                          <a:solidFill>
                            <a:srgbClr val="b21010"/>
                          </a:solidFill>
                        </a:rPr>
                        <a:t>*RightTabView</a:t>
                      </a:r>
                      <a:br>
                        <a:rPr lang="en-US" altLang="ko-KR" sz="900">
                          <a:solidFill>
                            <a:srgbClr val="b21010"/>
                          </a:solidFill>
                        </a:rPr>
                      </a:br>
                      <a:r>
                        <a:rPr lang="en-US" altLang="ko-KR" sz="900">
                          <a:solidFill>
                            <a:srgbClr val="000000"/>
                          </a:solidFill>
                        </a:rPr>
                        <a:t>PageViewModel</a:t>
                      </a:r>
                      <a:r>
                        <a:rPr lang="ko-KR" altLang="en-US" sz="900">
                          <a:solidFill>
                            <a:srgbClr val="000000"/>
                          </a:solidFill>
                        </a:rPr>
                        <a:t>의</a:t>
                      </a:r>
                      <a:br>
                        <a:rPr lang="ko-KR" altLang="en-US" sz="900">
                          <a:solidFill>
                            <a:srgbClr val="000000"/>
                          </a:solidFill>
                        </a:rPr>
                      </a:br>
                      <a:r>
                        <a:rPr lang="en-US" altLang="ko-KR" sz="900">
                          <a:solidFill>
                            <a:srgbClr val="000000"/>
                          </a:solidFill>
                        </a:rPr>
                        <a:t>CurrentViewModel</a:t>
                      </a:r>
                      <a:r>
                        <a:rPr lang="ko-KR" altLang="en-US" sz="900">
                          <a:solidFill>
                            <a:srgbClr val="000000"/>
                          </a:solidFill>
                        </a:rPr>
                        <a:t> 값에 따라</a:t>
                      </a:r>
                      <a:br>
                        <a:rPr lang="ko-KR" altLang="en-US" sz="900">
                          <a:solidFill>
                            <a:srgbClr val="000000"/>
                          </a:solidFill>
                        </a:rPr>
                      </a:br>
                      <a:r>
                        <a:rPr lang="en-US" altLang="ko-KR" sz="900">
                          <a:solidFill>
                            <a:srgbClr val="000000"/>
                          </a:solidFill>
                        </a:rPr>
                        <a:t>FriendDetailView </a:t>
                      </a:r>
                      <a:r>
                        <a:rPr lang="ko-KR" altLang="en-US" sz="900">
                          <a:solidFill>
                            <a:srgbClr val="000000"/>
                          </a:solidFill>
                        </a:rPr>
                        <a:t>혹은</a:t>
                      </a:r>
                      <a:br>
                        <a:rPr lang="ko-KR" altLang="en-US" sz="900">
                          <a:solidFill>
                            <a:srgbClr val="000000"/>
                          </a:solidFill>
                        </a:rPr>
                      </a:br>
                      <a:r>
                        <a:rPr lang="en-US" altLang="ko-KR" sz="900">
                          <a:solidFill>
                            <a:srgbClr val="000000"/>
                          </a:solidFill>
                        </a:rPr>
                        <a:t>ChatRoomView</a:t>
                      </a:r>
                      <a:r>
                        <a:rPr lang="ko-KR" altLang="en-US" sz="900">
                          <a:solidFill>
                            <a:srgbClr val="000000"/>
                          </a:solidFill>
                        </a:rPr>
                        <a:t> 혹은</a:t>
                      </a:r>
                      <a:br>
                        <a:rPr lang="ko-KR" altLang="en-US" sz="900">
                          <a:solidFill>
                            <a:srgbClr val="000000"/>
                          </a:solidFill>
                        </a:rPr>
                      </a:br>
                      <a:r>
                        <a:rPr lang="en-US" altLang="ko-KR" sz="900">
                          <a:solidFill>
                            <a:srgbClr val="000000"/>
                          </a:solidFill>
                        </a:rPr>
                        <a:t>SettingDetailView</a:t>
                      </a:r>
                      <a:r>
                        <a:rPr lang="ko-KR" altLang="en-US" sz="900">
                          <a:solidFill>
                            <a:srgbClr val="000000"/>
                          </a:solidFill>
                        </a:rPr>
                        <a:t>가 표시 됨</a:t>
                      </a:r>
                      <a:br>
                        <a:rPr lang="en-US" altLang="ko-KR" sz="900">
                          <a:solidFill>
                            <a:srgbClr val="000000"/>
                          </a:solidFill>
                        </a:rPr>
                      </a:br>
                      <a:br>
                        <a:rPr lang="en-US" altLang="ko-KR" sz="900">
                          <a:solidFill>
                            <a:srgbClr val="000000"/>
                          </a:solidFill>
                        </a:rPr>
                      </a:br>
                      <a:r>
                        <a:rPr lang="en-US" altLang="ko-KR" sz="900">
                          <a:solidFill>
                            <a:srgbClr val="000000"/>
                          </a:solidFill>
                        </a:rPr>
                        <a:t>*Navigation Bar</a:t>
                      </a:r>
                      <a:br>
                        <a:rPr lang="en-US" altLang="ko-KR" sz="900">
                          <a:solidFill>
                            <a:srgbClr val="000000"/>
                          </a:solidFill>
                        </a:rPr>
                      </a:br>
                      <a:r>
                        <a:rPr lang="ko-KR" altLang="en-US" sz="900">
                          <a:solidFill>
                            <a:srgbClr val="000000"/>
                          </a:solidFill>
                        </a:rPr>
                        <a:t>친구 목록</a:t>
                      </a:r>
                      <a:r>
                        <a:rPr lang="en-US" altLang="ko-KR" sz="900">
                          <a:solidFill>
                            <a:srgbClr val="000000"/>
                          </a:solidFill>
                        </a:rPr>
                        <a:t>,</a:t>
                      </a:r>
                      <a:r>
                        <a:rPr lang="ko-KR" altLang="en-US" sz="900">
                          <a:solidFill>
                            <a:srgbClr val="000000"/>
                          </a:solidFill>
                        </a:rPr>
                        <a:t> 채팅 목록</a:t>
                      </a:r>
                      <a:r>
                        <a:rPr lang="en-US" altLang="ko-KR" sz="900">
                          <a:solidFill>
                            <a:srgbClr val="000000"/>
                          </a:solidFill>
                        </a:rPr>
                        <a:t>,</a:t>
                      </a:r>
                      <a:r>
                        <a:rPr lang="ko-KR" altLang="en-US" sz="900">
                          <a:solidFill>
                            <a:srgbClr val="000000"/>
                          </a:solidFill>
                        </a:rPr>
                        <a:t> 설정</a:t>
                      </a:r>
                      <a:br>
                        <a:rPr lang="ko-KR" altLang="en-US" sz="900">
                          <a:solidFill>
                            <a:srgbClr val="000000"/>
                          </a:solidFill>
                        </a:rPr>
                      </a:br>
                      <a:r>
                        <a:rPr lang="en-US" altLang="ko-KR" sz="900">
                          <a:solidFill>
                            <a:srgbClr val="000000"/>
                          </a:solidFill>
                        </a:rPr>
                        <a:t>3</a:t>
                      </a:r>
                      <a:r>
                        <a:rPr lang="ko-KR" altLang="en-US" sz="900">
                          <a:solidFill>
                            <a:srgbClr val="000000"/>
                          </a:solidFill>
                        </a:rPr>
                        <a:t>가지 버튼이 존재하고</a:t>
                      </a:r>
                      <a:br>
                        <a:rPr lang="ko-KR" altLang="en-US" sz="900">
                          <a:solidFill>
                            <a:srgbClr val="000000"/>
                          </a:solidFill>
                        </a:rPr>
                      </a:br>
                      <a:r>
                        <a:rPr lang="ko-KR" altLang="en-US" sz="900">
                          <a:solidFill>
                            <a:srgbClr val="000000"/>
                          </a:solidFill>
                        </a:rPr>
                        <a:t>각 버튼을 누르면</a:t>
                      </a:r>
                      <a:r>
                        <a:rPr lang="en-US" altLang="ko-KR" sz="900">
                          <a:solidFill>
                            <a:srgbClr val="000000"/>
                          </a:solidFill>
                        </a:rPr>
                        <a:t> CurrentViewModel</a:t>
                      </a:r>
                      <a:r>
                        <a:rPr lang="ko-KR" altLang="en-US" sz="900">
                          <a:solidFill>
                            <a:srgbClr val="000000"/>
                          </a:solidFill>
                        </a:rPr>
                        <a:t>의 값이 변경 됨</a:t>
                      </a:r>
                      <a:endParaRPr lang="ko-KR" altLang="en-US" sz="9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/>
                </a:tc>
              </a:tr>
              <a:tr h="385425">
                <a:tc gridSpan="4"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ko"/>
                        <a:t>UI 상세</a:t>
                      </a:r>
                      <a:endParaRPr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v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</a:tr>
              <a:tr h="1759700">
                <a:tc rowSpan="2" gridSpan="4">
                  <a:txBody>
                    <a:bodyPr vert="horz" lIns="91424" tIns="91424" rIns="91424" bIns="91424" anchor="t" anchorCtr="0"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  <a:tc rowSpan="2"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rowSpan="2"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rowSpan="2" h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v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</a:tr>
              <a:tr h="1759700">
                <a:tc gridSpan="4" v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 v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 v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hMerge="1" v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  <a:tc vMerge="1">
                  <a:txBody>
                    <a:bodyPr/>
                    <a:p>
                      <a:pPr lvl="0">
                        <a:defRPr/>
                      </a:pPr>
                      <a:endParaRPr lang="ko-KR"/>
                    </a:p>
                  </a:txBody>
                  <a:tcPr marL="91440" marR="91440"/>
                </a:tc>
              </a:tr>
            </a:tbl>
          </a:graphicData>
        </a:graphic>
      </p:graphicFrame>
      <p:sp>
        <p:nvSpPr>
          <p:cNvPr id="77" name="Google Shape;77;p17"/>
          <p:cNvSpPr/>
          <p:nvPr/>
        </p:nvSpPr>
        <p:spPr>
          <a:xfrm>
            <a:off x="750675" y="1543075"/>
            <a:ext cx="5760000" cy="32400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>
                <a:solidFill>
                  <a:srgbClr val="b21010"/>
                </a:solidFill>
              </a:rPr>
              <a:t>                            </a:t>
            </a:r>
            <a:r>
              <a:rPr lang="en-US" altLang="ko-KR">
                <a:solidFill>
                  <a:srgbClr val="b21010"/>
                </a:solidFill>
              </a:rPr>
              <a:t>*RightTabView</a:t>
            </a:r>
            <a:endParaRPr lang="en-US" altLang="ko-KR">
              <a:solidFill>
                <a:srgbClr val="b21010"/>
              </a:solidFill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747327" y="1543152"/>
            <a:ext cx="1549955" cy="323965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1500">
                <a:solidFill>
                  <a:srgbClr val="b21010"/>
                </a:solidFill>
              </a:rPr>
              <a:t>*LeftTabView</a:t>
            </a:r>
            <a:endParaRPr lang="en-US" altLang="ko-KR" sz="1500">
              <a:solidFill>
                <a:srgbClr val="b21010"/>
              </a:solidFill>
            </a:endParaRPr>
          </a:p>
        </p:txBody>
      </p:sp>
      <p:sp>
        <p:nvSpPr>
          <p:cNvPr id="84" name="Google Shape;83;p17"/>
          <p:cNvSpPr/>
          <p:nvPr/>
        </p:nvSpPr>
        <p:spPr>
          <a:xfrm>
            <a:off x="750899" y="4344694"/>
            <a:ext cx="1549955" cy="435736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1500"/>
              <a:t>*Navigation Bar</a:t>
            </a:r>
            <a:endParaRPr lang="en-US" altLang="ko-KR" sz="15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962</ep:Words>
  <ep:PresentationFormat>화면 슬라이드 쇼(16:9)</ep:PresentationFormat>
  <ep:Paragraphs>359</ep:Paragraphs>
  <ep:Slides>6</ep:Slides>
  <ep:Notes>36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ep:HeadingPairs>
  <ep:TitlesOfParts>
    <vt:vector size="7" baseType="lpstr">
      <vt:lpstr>Simple Light</vt:lpstr>
      <vt:lpstr>Chat_Messenger</vt:lpstr>
      <vt:lpstr>목차</vt:lpstr>
      <vt:lpstr>슬라이드 3</vt:lpstr>
      <vt:lpstr>MainWindowView</vt:lpstr>
      <vt:lpstr>슬라이드 5</vt:lpstr>
      <vt:lpstr>슬라이드 6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김상훈</dc:creator>
  <cp:lastModifiedBy>yofp</cp:lastModifiedBy>
  <dcterms:modified xsi:type="dcterms:W3CDTF">2026-04-11T05:58:20.882</dcterms:modified>
  <cp:revision>32</cp:revision>
  <dc:title>제목없음</dc:title>
  <cp:version>1000.0000.01</cp:version>
</cp:coreProperties>
</file>